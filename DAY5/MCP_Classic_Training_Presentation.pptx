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Model Context Protocol (MCP)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DCE6F2"/>
                </a:solidFill>
              </a:defRPr>
            </a:pPr>
            <a:r>
              <a:t>Connecting LLM Applications, Tools, and Oracle Database 23ai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66344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User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60320" y="49834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063240" y="466344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LLM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617720" y="49834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20640" y="466344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MCP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675120" y="49834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466344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Tools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4983480"/>
            <a:ext cx="41148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35440" y="4663440"/>
            <a:ext cx="15544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1F1F1F"/>
                </a:solidFill>
              </a:defRPr>
            </a:pPr>
            <a:r>
              <a:t>Database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What is MCP?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Definition based on the supplied training content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400" b="1">
                <a:solidFill>
                  <a:srgbClr val="1F1F1F"/>
                </a:solidFill>
              </a:defRPr>
            </a:pPr>
            <a:r>
              <a:t>MCP = a standard way to expose tools to an LLM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1F1F1F"/>
                </a:solidFill>
              </a:defRPr>
            </a:pPr>
            <a:r>
              <a:t>• The LLM can decide which tool to call.</a:t>
            </a:r>
          </a:p>
          <a:p>
            <a:pPr>
              <a:spcAft>
                <a:spcPts val="1400"/>
              </a:spcAft>
              <a:defRPr sz="1900">
                <a:solidFill>
                  <a:srgbClr val="1F1F1F"/>
                </a:solidFill>
              </a:defRPr>
            </a:pPr>
            <a:r>
              <a:t>• An MCP Client communicates with an MCP Server.</a:t>
            </a:r>
          </a:p>
          <a:p>
            <a:pPr>
              <a:spcAft>
                <a:spcPts val="1400"/>
              </a:spcAft>
              <a:defRPr sz="1900">
                <a:solidFill>
                  <a:srgbClr val="1F1F1F"/>
                </a:solidFill>
              </a:defRPr>
            </a:pPr>
            <a:r>
              <a:t>• The MCP Server exposes tools such as SQL and Vector Search.</a:t>
            </a:r>
          </a:p>
          <a:p>
            <a:pPr>
              <a:spcAft>
                <a:spcPts val="1400"/>
              </a:spcAft>
              <a:defRPr sz="1900">
                <a:solidFill>
                  <a:srgbClr val="1F1F1F"/>
                </a:solidFill>
              </a:defRPr>
            </a:pPr>
            <a:r>
              <a:t>• Tool results are returned to the LLM to generate the final answer.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Core Components in the MCP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325880"/>
            <a:ext cx="3337560" cy="1417320"/>
          </a:xfrm>
          <a:prstGeom prst="roundRect">
            <a:avLst/>
          </a:prstGeom>
          <a:solidFill>
            <a:srgbClr val="5B9BD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Groq</a:t>
            </a:r>
            <a:br/>
            <a:r>
              <a:t>LLM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80" y="1325880"/>
            <a:ext cx="3337560" cy="14173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LangGraph</a:t>
            </a:r>
            <a:br/>
            <a:r>
              <a:t>Workflow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92440" y="1325880"/>
            <a:ext cx="3337560" cy="14173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MCP</a:t>
            </a:r>
            <a:br/>
            <a:r>
              <a:t>Standard way to expose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474720"/>
            <a:ext cx="3337560" cy="141732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Oracle 23ai</a:t>
            </a:r>
            <a:br/>
            <a:r>
              <a:t>SQL + Vector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3474720"/>
            <a:ext cx="3337560" cy="1417320"/>
          </a:xfrm>
          <a:prstGeom prst="roundRect">
            <a:avLst/>
          </a:prstGeom>
          <a:solidFill>
            <a:srgbClr val="F2DCD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Embedding Model</a:t>
            </a:r>
            <a:br/>
            <a:r>
              <a:t>Text → Vector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End-to-End MCP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One complete visual flow on a single slide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114300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User Question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45920" y="2898648"/>
            <a:ext cx="20116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874519" y="2377440"/>
            <a:ext cx="1143000" cy="105156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LangGraph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898648"/>
            <a:ext cx="20116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246120" y="2377440"/>
            <a:ext cx="132588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Groq LLM</a:t>
            </a:r>
            <a:br/>
            <a:r>
              <a:t>Decides tool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572000" y="2898648"/>
            <a:ext cx="20116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800600" y="2377440"/>
            <a:ext cx="114300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MCP Client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2898648"/>
            <a:ext cx="20116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72200" y="2377440"/>
            <a:ext cx="1143000" cy="105156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MCP Server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0" y="2898648"/>
            <a:ext cx="20116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43800" y="2377440"/>
            <a:ext cx="132588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SQL Tool +</a:t>
            </a:r>
            <a:br/>
            <a:r>
              <a:t>Vector Search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869680" y="2898648"/>
            <a:ext cx="201168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98280" y="2377440"/>
            <a:ext cx="132588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Oracle Database 23ai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24159" y="2898648"/>
            <a:ext cx="201169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10652759" y="2377440"/>
            <a:ext cx="1143000" cy="105156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Tool Results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795759" y="2898648"/>
            <a:ext cx="201169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024359" y="2377440"/>
            <a:ext cx="1325880" cy="105156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Groq LLM Answer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4572000"/>
            <a:ext cx="813816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1F1F1F"/>
                </a:solidFill>
              </a:defRPr>
            </a:pPr>
            <a:r>
              <a:t>LLM chooses the appropriate tool → MCP transports the tool call → Database/tool returns results → LLM creates the answer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Example Project Structure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4023360" cy="4389120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>
                <a:solidFill>
                  <a:srgbClr val="1F1F1F"/>
                </a:solidFill>
              </a:defRPr>
            </a:pPr>
            <a:r>
              <a:t>oracle_mcp_langgraph/</a:t>
            </a:r>
            <a:br/>
            <a:br/>
            <a:r>
              <a:t>├── mcp_oracle_server.py</a:t>
            </a:r>
            <a:br/>
            <a:r>
              <a:t>├── langgraph_groq_client.py</a:t>
            </a:r>
            <a:br/>
            <a:r>
              <a:t>├── requirements.txt</a:t>
            </a:r>
            <a:br/>
            <a:r>
              <a:t>└── .env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577840" y="1554480"/>
            <a:ext cx="530352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mcp_oracle_server.py</a:t>
            </a:r>
            <a:br/>
            <a:r>
              <a:t>Exposes Oracle tools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577840" y="2743200"/>
            <a:ext cx="530352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langgraph_groq_client.py</a:t>
            </a:r>
            <a:br/>
            <a:r>
              <a:t>Orchestrates workflow and LLM interaction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3931920"/>
            <a:ext cx="53035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.env</a:t>
            </a:r>
            <a:br/>
            <a:r>
              <a:t>Stores API key and database connection values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Example Setup and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4480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0">
                <a:solidFill>
                  <a:srgbClr val="1F1F1F"/>
                </a:solidFill>
              </a:defRPr>
            </a:pPr>
            <a:r>
              <a:t>Required packages</a:t>
            </a:r>
            <a:br/>
            <a:br/>
            <a:r>
              <a:t>• mcp</a:t>
            </a:r>
            <a:br/>
            <a:r>
              <a:t>• oracledb</a:t>
            </a:r>
            <a:br/>
            <a:r>
              <a:t>• langgraph</a:t>
            </a:r>
            <a:br/>
            <a:r>
              <a:t>• langchain-groq</a:t>
            </a:r>
            <a:br/>
            <a:r>
              <a:t>• langchain-mcp-adapters</a:t>
            </a:r>
            <a:br/>
            <a:r>
              <a:t>• python-dotenv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280160"/>
            <a:ext cx="5212080" cy="4480560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1F1F1F"/>
                </a:solidFill>
              </a:defRPr>
            </a:pPr>
            <a:r>
              <a:t>Environment values (.env)</a:t>
            </a:r>
            <a:br/>
            <a:br/>
            <a:r>
              <a:t>GROQ_API_KEY=your_groq_api_key</a:t>
            </a:r>
            <a:br/>
            <a:br/>
            <a:r>
              <a:t>ORACLE_USER=your_username</a:t>
            </a:r>
            <a:br/>
            <a:r>
              <a:t>ORACLE_PASSWORD=your_password</a:t>
            </a:r>
            <a:br/>
            <a:r>
              <a:t>ORACLE_DSN=localhost:1521/FREEPDB1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Oracle MCP Server: Exposed 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977639" y="1143000"/>
            <a:ext cx="4114800" cy="868680"/>
          </a:xfrm>
          <a:prstGeom prst="roundRect">
            <a:avLst/>
          </a:prstGeom>
          <a:solidFill>
            <a:srgbClr val="5B9BD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FFFFFF"/>
                </a:solidFill>
              </a:defRPr>
            </a:pPr>
            <a:r>
              <a:t>Oracle23aiTools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43000" y="2743200"/>
            <a:ext cx="3657600" cy="105156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1F1F1F"/>
                </a:solidFill>
              </a:defRPr>
            </a:pPr>
            <a:r>
              <a:t>execute_sql()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69480" y="2743200"/>
            <a:ext cx="3657600" cy="105156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300" b="1">
                <a:solidFill>
                  <a:srgbClr val="1F1F1F"/>
                </a:solidFill>
              </a:defRPr>
            </a:pPr>
            <a:r>
              <a:t>get_tables()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971800" y="2011680"/>
            <a:ext cx="3063240" cy="7315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35040" y="2011680"/>
            <a:ext cx="3063240" cy="73152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60320" y="4800600"/>
            <a:ext cx="704088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1F1F1F"/>
                </a:solidFill>
              </a:defRPr>
            </a:pPr>
            <a:r>
              <a:t>The MCP Server provides a structured tool interface between the application and Oracle 23ai.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Example: SQL Question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32688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95959"/>
                </a:solidFill>
              </a:defRPr>
            </a:pPr>
            <a:r>
              <a:t>User request: “Show me all products”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242316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User</a:t>
            </a:r>
            <a:br/>
            <a:r>
              <a:t>Show me all products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971800" y="1847088"/>
            <a:ext cx="2743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3383280" y="1371600"/>
            <a:ext cx="2423160" cy="9601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LangGraph Agent</a:t>
            </a:r>
            <a:br/>
            <a:r>
              <a:t>Orchestrates request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806440" y="1847088"/>
            <a:ext cx="2743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217920" y="1371600"/>
            <a:ext cx="242316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Groq</a:t>
            </a:r>
            <a:br/>
            <a:r>
              <a:t>Needs database data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641080" y="1847088"/>
            <a:ext cx="2743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052560" y="1371600"/>
            <a:ext cx="2423160" cy="9601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MCP Tool Call</a:t>
            </a:r>
            <a:br/>
            <a:r>
              <a:t>execute_sql()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1737360" y="2331720"/>
            <a:ext cx="8503920" cy="160020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48640" y="3931920"/>
            <a:ext cx="242316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Oracle MCP Server</a:t>
            </a:r>
            <a:br/>
            <a:r>
              <a:t>Receives tool call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71800" y="4407408"/>
            <a:ext cx="2743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83280" y="3931920"/>
            <a:ext cx="2423160" cy="9601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Oracle Database 23ai</a:t>
            </a:r>
            <a:br/>
            <a:r>
              <a:t>Executes query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06440" y="4407408"/>
            <a:ext cx="2743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17920" y="3931920"/>
            <a:ext cx="2423160" cy="96012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Query Result</a:t>
            </a:r>
            <a:br/>
            <a:r>
              <a:t>Returns 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41080" y="4407408"/>
            <a:ext cx="2743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52560" y="3931920"/>
            <a:ext cx="2423160" cy="9601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F1F1F"/>
                </a:solidFill>
              </a:defRPr>
            </a:pPr>
            <a:r>
              <a:t>Groq Answer</a:t>
            </a:r>
            <a:br/>
            <a:r>
              <a:t>Creates final response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Enterprise Architecture: Tool Routing Decision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663440" y="822960"/>
            <a:ext cx="2834640" cy="6858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USER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663440" y="1737360"/>
            <a:ext cx="2834640" cy="6858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LangGraph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2651760"/>
            <a:ext cx="2834640" cy="77724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F1F1F"/>
                </a:solidFill>
              </a:defRPr>
            </a:pPr>
            <a:r>
              <a:t>GROQ</a:t>
            </a:r>
            <a:br/>
            <a:r>
              <a:t>Llama Model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508760"/>
            <a:ext cx="0" cy="22860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6080760" y="2423160"/>
            <a:ext cx="0" cy="22860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3977639"/>
            <a:ext cx="2743200" cy="77724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F1F1F"/>
                </a:solidFill>
              </a:defRPr>
            </a:pPr>
            <a:r>
              <a:t>SQL Question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977639"/>
            <a:ext cx="2743200" cy="77724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F1F1F"/>
                </a:solidFill>
              </a:defRPr>
            </a:pPr>
            <a:r>
              <a:t>Semantic Question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74920"/>
            <a:ext cx="274320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execute_sql()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03920" y="5074920"/>
            <a:ext cx="2743200" cy="73152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F1F1F"/>
                </a:solidFill>
              </a:defRPr>
            </a:pPr>
            <a:r>
              <a:t>vector_search()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074920"/>
            <a:ext cx="3383280" cy="731520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F1F1F"/>
                </a:solidFill>
              </a:defRPr>
            </a:pPr>
            <a:r>
              <a:t>MCP Client → MCP Server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5989320"/>
            <a:ext cx="4069080" cy="548640"/>
          </a:xfrm>
          <a:prstGeom prst="roundRect">
            <a:avLst/>
          </a:prstGeom>
          <a:solidFill>
            <a:srgbClr val="5B9BD5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Oracle Database 23ai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2286000" y="3429000"/>
            <a:ext cx="3794760" cy="54863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80760" y="3429000"/>
            <a:ext cx="3794760" cy="548639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4754880"/>
            <a:ext cx="0" cy="32004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0" y="4754880"/>
            <a:ext cx="0" cy="32004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0" y="5440680"/>
            <a:ext cx="7315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7772400" y="5440680"/>
            <a:ext cx="731520" cy="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080760" y="5806440"/>
            <a:ext cx="0" cy="182880"/>
          </a:xfrm>
          <a:prstGeom prst="line">
            <a:avLst/>
          </a:prstGeom>
          <a:ln w="25400">
            <a:solidFill>
              <a:srgbClr val="1F4E7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MCP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71600"/>
            <a:ext cx="3474720" cy="914400"/>
          </a:xfrm>
          <a:prstGeom prst="roundRect">
            <a:avLst/>
          </a:prstGeom>
          <a:solidFill>
            <a:srgbClr val="DDEBF7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Groq</a:t>
            </a:r>
            <a:br/>
            <a:r>
              <a:t>LLM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474720" cy="914400"/>
          </a:xfrm>
          <a:prstGeom prst="roundRect">
            <a:avLst/>
          </a:prstGeom>
          <a:solidFill>
            <a:srgbClr val="E2EFDA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LangGraph</a:t>
            </a:r>
            <a:br/>
            <a:r>
              <a:t>Workflow orchestration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371600"/>
            <a:ext cx="3474720" cy="914400"/>
          </a:xfrm>
          <a:prstGeom prst="roundRect">
            <a:avLst/>
          </a:prstGeom>
          <a:solidFill>
            <a:srgbClr val="FFF2CC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MCP</a:t>
            </a:r>
            <a:br/>
            <a:r>
              <a:t>Standard way to expose tools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3108960"/>
            <a:ext cx="3474720" cy="914400"/>
          </a:xfrm>
          <a:prstGeom prst="roundRect">
            <a:avLst/>
          </a:prstGeom>
          <a:solidFill>
            <a:srgbClr val="F2DCDB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Oracle 23ai</a:t>
            </a:r>
            <a:br/>
            <a:r>
              <a:t>SQL + Vector Database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108960"/>
            <a:ext cx="3474720" cy="914400"/>
          </a:xfrm>
          <a:prstGeom prst="roundRect">
            <a:avLst/>
          </a:prstGeom>
          <a:solidFill>
            <a:srgbClr val="D9EAD3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F1F1F"/>
                </a:solidFill>
              </a:defRPr>
            </a:pPr>
            <a:r>
              <a:t>Embedding Model</a:t>
            </a:r>
            <a:br/>
            <a:r>
              <a:t>Text → Vector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4983480"/>
            <a:ext cx="9418320" cy="777240"/>
          </a:xfrm>
          <a:prstGeom prst="roundRect">
            <a:avLst/>
          </a:prstGeom>
          <a:solidFill>
            <a:srgbClr val="F2F2F2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F1F1F"/>
                </a:solidFill>
              </a:defRPr>
            </a:pPr>
            <a:r>
              <a:t>Together, these components create a workflow where an LLM can choose and use database tools through MCP.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73952"/>
            <a:ext cx="11155680" cy="18288"/>
          </a:xfrm>
          <a:prstGeom prst="rect">
            <a:avLst/>
          </a:prstGeom>
          <a:solidFill>
            <a:srgbClr val="DD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81360" y="6510528"/>
            <a:ext cx="548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9595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