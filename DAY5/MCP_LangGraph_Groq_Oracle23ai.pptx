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43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74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0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AGENTIC AI PATTERN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 (MCP)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LangGraph, Groq, and Oracle Database 23ai through a standard tool-calling interface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9050">
            <a:solidFill>
              <a:srgbClr val="1B7A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8136" y="48920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48456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9050">
            <a:solidFill>
              <a:srgbClr val="F0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48456" y="48920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8776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9050">
            <a:solidFill>
              <a:srgbClr val="1B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08776" y="48920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69096" y="4892040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 w="19050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69096" y="489204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TechTrainerPro  •  fulfilling your yearning for learning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 is an open standard that lets an LLM-based agent discover and call external tools and data sources through one uniform client–server interface. Instead of hard-coding an integration for every API or database, the model talks to an 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process that exposes a defined set of callable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(e.g. run SQL, search vectors, list tables).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embedded in the agent framework (here, LangGraph). It handles tool discovery, sends the call, and returns the result to the LLM for its next reasoning step.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4160520"/>
            <a:ext cx="5852160" cy="1920240"/>
          </a:xfrm>
          <a:prstGeom prst="roundRect">
            <a:avLst>
              <a:gd name="adj" fmla="val 3810"/>
            </a:avLst>
          </a:prstGeom>
          <a:solidFill>
            <a:srgbClr val="F5F8FA"/>
          </a:solidFill>
          <a:ln/>
          <a:effectLst>
            <a:outerShdw sx="100000" sy="100000" kx="0" ky="0" algn="bl" rotWithShape="0" blurRad="50800" dist="12700" dir="5400000">
              <a:srgbClr val="20304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4297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461772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tool discovery — no bespoke glue code per data source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the LLM's reasoning from how a tool is actually implemented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server can serve any MCP-compatible client or LLM provider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1371600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F0A227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18120" y="1371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35440" y="1938528"/>
            <a:ext cx="0" cy="31089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772400" y="2249424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818120" y="224942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2816352"/>
            <a:ext cx="0" cy="31089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0" y="3127248"/>
            <a:ext cx="2926080" cy="566928"/>
          </a:xfrm>
          <a:prstGeom prst="roundRect">
            <a:avLst>
              <a:gd name="adj" fmla="val 11290"/>
            </a:avLst>
          </a:prstGeom>
          <a:solidFill>
            <a:srgbClr val="10243E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8120" y="31272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74736" y="4005072"/>
            <a:ext cx="0" cy="9144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26680" y="4096512"/>
            <a:ext cx="896112" cy="502920"/>
          </a:xfrm>
          <a:prstGeom prst="roundRect">
            <a:avLst>
              <a:gd name="adj" fmla="val 12727"/>
            </a:avLst>
          </a:prstGeom>
          <a:solidFill>
            <a:srgbClr val="2E5C8A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0" y="40965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35440" y="4005072"/>
            <a:ext cx="0" cy="9144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787384" y="4096512"/>
            <a:ext cx="896112" cy="502920"/>
          </a:xfrm>
          <a:prstGeom prst="roundRect">
            <a:avLst>
              <a:gd name="adj" fmla="val 12727"/>
            </a:avLst>
          </a:prstGeom>
          <a:solidFill>
            <a:srgbClr val="2F8F6F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833104" y="40965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296144" y="4005072"/>
            <a:ext cx="0" cy="9144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48088" y="4096512"/>
            <a:ext cx="896112" cy="502920"/>
          </a:xfrm>
          <a:prstGeom prst="roundRect">
            <a:avLst>
              <a:gd name="adj" fmla="val 12727"/>
            </a:avLst>
          </a:prstGeom>
          <a:solidFill>
            <a:srgbClr val="1B7A8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93808" y="409651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2668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tools (examples)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084832" cy="4160520"/>
          </a:xfrm>
          <a:prstGeom prst="roundRect">
            <a:avLst>
              <a:gd name="adj" fmla="val 3947"/>
            </a:avLst>
          </a:prstGeom>
          <a:solidFill>
            <a:srgbClr val="F0A227"/>
          </a:solidFill>
          <a:ln/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459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1671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Intelligence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715768"/>
            <a:ext cx="1810512" cy="0"/>
          </a:xfrm>
          <a:prstGeom prst="line">
            <a:avLst/>
          </a:prstGeom>
          <a:noFill/>
          <a:ln w="9525">
            <a:solidFill>
              <a:srgbClr val="10243E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62072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inference engine running Llama models — decides what the user needs and which tool to call.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54630" y="1417320"/>
            <a:ext cx="2084832" cy="4160520"/>
          </a:xfrm>
          <a:prstGeom prst="roundRect">
            <a:avLst>
              <a:gd name="adj" fmla="val 3947"/>
            </a:avLst>
          </a:prstGeom>
          <a:solidFill>
            <a:srgbClr val="1B7A8C"/>
          </a:solidFill>
          <a:ln/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91790" y="16459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91790" y="21671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891790" y="2715768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1790" y="2862072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graph framework that sequences agent steps, retries, and human-in-the-loop checkpoints.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52060" y="1417320"/>
            <a:ext cx="2084832" cy="4160520"/>
          </a:xfrm>
          <a:prstGeom prst="roundRect">
            <a:avLst>
              <a:gd name="adj" fmla="val 3947"/>
            </a:avLst>
          </a:prstGeom>
          <a:solidFill>
            <a:srgbClr val="10243E"/>
          </a:solidFill>
          <a:ln/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89220" y="16459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89220" y="21671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 Interface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89220" y="2715768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9220" y="2862072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client–server protocol that exposes callable tools to any compatible LLM.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49490" y="1417320"/>
            <a:ext cx="2084832" cy="4160520"/>
          </a:xfrm>
          <a:prstGeom prst="roundRect">
            <a:avLst>
              <a:gd name="adj" fmla="val 3947"/>
            </a:avLst>
          </a:prstGeom>
          <a:solidFill>
            <a:srgbClr val="2E5C8A"/>
          </a:solidFill>
          <a:ln/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86650" y="16459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23ai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86650" y="21671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Vector Database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86650" y="2715768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6650" y="2862072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database engine — relational queries and vector similarity search in one system.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46920" y="1417320"/>
            <a:ext cx="2084832" cy="4160520"/>
          </a:xfrm>
          <a:prstGeom prst="roundRect">
            <a:avLst>
              <a:gd name="adj" fmla="val 3947"/>
            </a:avLst>
          </a:prstGeom>
          <a:solidFill>
            <a:srgbClr val="2F8F6F"/>
          </a:solidFill>
          <a:ln/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84080" y="1645920"/>
            <a:ext cx="1810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Model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784080" y="2167128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Vector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784080" y="2715768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84080" y="2862072"/>
            <a:ext cx="18105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numeric vectors so semantic (meaning-based) search becomes possible.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Lifecycle: From Question to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082796" y="1051560"/>
            <a:ext cx="4023360" cy="384048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28516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94476" y="1435608"/>
            <a:ext cx="0" cy="21945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082796" y="1655064"/>
            <a:ext cx="4023360" cy="384048"/>
          </a:xfrm>
          <a:prstGeom prst="roundRect">
            <a:avLst>
              <a:gd name="adj" fmla="val 16667"/>
            </a:avLst>
          </a:prstGeom>
          <a:solidFill>
            <a:srgbClr val="1B7A8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28516" y="16550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 (orchestration)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4476" y="2039112"/>
            <a:ext cx="0" cy="21945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082796" y="2258568"/>
            <a:ext cx="4023360" cy="384048"/>
          </a:xfrm>
          <a:prstGeom prst="roundRect">
            <a:avLst>
              <a:gd name="adj" fmla="val 16667"/>
            </a:avLst>
          </a:prstGeom>
          <a:solidFill>
            <a:srgbClr val="F0A227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28516" y="22585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4476" y="2642616"/>
            <a:ext cx="0" cy="21945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31636" y="262432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tool to call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82796" y="2862072"/>
            <a:ext cx="4023360" cy="384048"/>
          </a:xfrm>
          <a:prstGeom prst="roundRect">
            <a:avLst>
              <a:gd name="adj" fmla="val 16667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28516" y="28620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4476" y="3246120"/>
            <a:ext cx="0" cy="21945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82796" y="3465576"/>
            <a:ext cx="4023360" cy="384048"/>
          </a:xfrm>
          <a:prstGeom prst="roundRect">
            <a:avLst>
              <a:gd name="adj" fmla="val 16667"/>
            </a:avLst>
          </a:prstGeom>
          <a:solidFill>
            <a:srgbClr val="10243E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28516" y="346557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4476" y="3849624"/>
            <a:ext cx="0" cy="10972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951476" y="3959352"/>
            <a:ext cx="2286000" cy="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951476" y="3959352"/>
            <a:ext cx="0" cy="10972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37476" y="3959352"/>
            <a:ext cx="0" cy="10972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91356" y="4069080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2E5C8A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037076" y="4069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Tool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7356" y="4069080"/>
            <a:ext cx="1920240" cy="384048"/>
          </a:xfrm>
          <a:prstGeom prst="roundRect">
            <a:avLst>
              <a:gd name="adj" fmla="val 16667"/>
            </a:avLst>
          </a:prstGeom>
          <a:solidFill>
            <a:srgbClr val="2F8F6F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23076" y="4069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Tool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51476" y="4453128"/>
            <a:ext cx="0" cy="21945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37476" y="4453128"/>
            <a:ext cx="0" cy="21945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951476" y="4672584"/>
            <a:ext cx="2286000" cy="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357116" y="4672584"/>
            <a:ext cx="3474720" cy="420624"/>
          </a:xfrm>
          <a:prstGeom prst="can">
            <a:avLst/>
          </a:prstGeom>
          <a:solidFill>
            <a:srgbClr val="10243E"/>
          </a:solidFill>
          <a:ln w="15875">
            <a:solidFill>
              <a:srgbClr val="0A1830"/>
            </a:solidFill>
            <a:prstDash val="solid"/>
          </a:ln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02836" y="4748296"/>
            <a:ext cx="3383280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23ai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094476" y="5093208"/>
            <a:ext cx="0" cy="21945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082796" y="5312664"/>
            <a:ext cx="4023360" cy="384048"/>
          </a:xfrm>
          <a:prstGeom prst="roundRect">
            <a:avLst>
              <a:gd name="adj" fmla="val 16667"/>
            </a:avLst>
          </a:prstGeom>
          <a:solidFill>
            <a:srgbClr val="3E5670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128516" y="531266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94476" y="5696712"/>
            <a:ext cx="0" cy="21945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082796" y="5916168"/>
            <a:ext cx="4023360" cy="384048"/>
          </a:xfrm>
          <a:prstGeom prst="roundRect">
            <a:avLst>
              <a:gd name="adj" fmla="val 16667"/>
            </a:avLst>
          </a:prstGeom>
          <a:solidFill>
            <a:srgbClr val="F0A227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128516" y="59161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Answer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MCP Server: Oracle23aiTools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Oracle MCP Server (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mcp_oracle_server.py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registers a small tool set that any LangGraph / Groq agent can call through the MCP Client — the agent never talks to Oracle directly.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15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5C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execute_sql()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SQL statement against Oracle 23ai and returns the result set — used for structured, relational questions ("show me all products").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1B7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3159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get_tables()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tables and schema available in the database, so the LLM can ground its SQL in real column names.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589520" y="1371600"/>
            <a:ext cx="3108960" cy="548640"/>
          </a:xfrm>
          <a:prstGeom prst="roundRect">
            <a:avLst>
              <a:gd name="adj" fmla="val 11667"/>
            </a:avLst>
          </a:prstGeom>
          <a:solidFill>
            <a:srgbClr val="10243E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635240" y="13716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2440" y="1920240"/>
            <a:ext cx="0" cy="548640"/>
          </a:xfrm>
          <a:prstGeom prst="line">
            <a:avLst/>
          </a:prstGeom>
          <a:noFill/>
          <a:ln w="17780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195560" y="1920240"/>
            <a:ext cx="0" cy="548640"/>
          </a:xfrm>
          <a:prstGeom prst="line">
            <a:avLst/>
          </a:prstGeom>
          <a:noFill/>
          <a:ln w="17780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52360" y="246888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2E5C8A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2468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execute_sql()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35440" y="2468880"/>
            <a:ext cx="1600200" cy="502920"/>
          </a:xfrm>
          <a:prstGeom prst="roundRect">
            <a:avLst>
              <a:gd name="adj" fmla="val 12727"/>
            </a:avLst>
          </a:prstGeom>
          <a:solidFill>
            <a:srgbClr val="1B7A8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1160" y="2468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get_tables()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0" y="2971800"/>
            <a:ext cx="0" cy="548640"/>
          </a:xfrm>
          <a:prstGeom prst="line">
            <a:avLst/>
          </a:prstGeom>
          <a:noFill/>
          <a:ln w="17780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0" y="2971800"/>
            <a:ext cx="0" cy="548640"/>
          </a:xfrm>
          <a:prstGeom prst="line">
            <a:avLst/>
          </a:prstGeom>
          <a:noFill/>
          <a:ln w="17780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0" y="3520440"/>
            <a:ext cx="1828800" cy="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3520440"/>
            <a:ext cx="3474720" cy="777240"/>
          </a:xfrm>
          <a:prstGeom prst="can">
            <a:avLst/>
          </a:prstGeom>
          <a:solidFill>
            <a:srgbClr val="1B3A5C"/>
          </a:solidFill>
          <a:ln w="15875">
            <a:solidFill>
              <a:srgbClr val="0A1830"/>
            </a:solidFill>
            <a:prstDash val="solid"/>
          </a:ln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52360" y="3660343"/>
            <a:ext cx="3383280" cy="349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23ai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52360" y="3986784"/>
            <a:ext cx="338328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Vector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06640" y="452628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F5F8FA"/>
          </a:solidFill>
          <a:ln/>
        </p:spPr>
      </p:sp>
      <p:sp>
        <p:nvSpPr>
          <p:cNvPr id="26" name="Text 24"/>
          <p:cNvSpPr/>
          <p:nvPr/>
        </p:nvSpPr>
        <p:spPr>
          <a:xfrm>
            <a:off x="7543800" y="4590288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two tools cover both retrieval styles: exact SQL lookups and semantic (vector) search.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Setup: Oracle + MCP + LangGraph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0243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533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029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oracle_mcp_langgraph/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mcp_oracle_server.py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langgraph_groq_client.py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.env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5F8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3159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Required Packages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645152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mcp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oracledb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langgraph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langchain-groq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langchain-mcp-adapters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python-dotenv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5623560" cy="2286000"/>
          </a:xfrm>
          <a:prstGeom prst="roundRect">
            <a:avLst>
              <a:gd name="adj" fmla="val 3200"/>
            </a:avLst>
          </a:prstGeom>
          <a:solidFill>
            <a:srgbClr val="10243E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35331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.env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5257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GROQ_API_KEY=your_groq_api_key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ORACLE_USER=your_username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ORACLE_PASSWORD=your_password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ORACLE_DSN=localhost:1521/FREEPDB1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03320"/>
            <a:ext cx="5623560" cy="2423160"/>
          </a:xfrm>
          <a:prstGeom prst="roundRect">
            <a:avLst>
              <a:gd name="adj" fmla="val 3019"/>
            </a:avLst>
          </a:prstGeom>
          <a:solidFill>
            <a:srgbClr val="F5F8F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38221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file does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4160520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mcp_oracle_server.py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Exposes Oracle23aiTools (execute_sql, get_tables) as an MCP server.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4782312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langgraph_groq_client.py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LangGraph agent + Groq LLM that connects to the MCP server as a client.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5404104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02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 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72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Holds Groq API key and Oracle connection credentials (never commit this file).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Walkthrough: "Show me all products"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25596" y="1188720"/>
            <a:ext cx="4937760" cy="438912"/>
          </a:xfrm>
          <a:prstGeom prst="roundRect">
            <a:avLst>
              <a:gd name="adj" fmla="val 1458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71316" y="118872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"Show me all products"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94476" y="1627632"/>
            <a:ext cx="0" cy="24231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25596" y="1869948"/>
            <a:ext cx="4937760" cy="438912"/>
          </a:xfrm>
          <a:prstGeom prst="roundRect">
            <a:avLst>
              <a:gd name="adj" fmla="val 14583"/>
            </a:avLst>
          </a:prstGeom>
          <a:solidFill>
            <a:srgbClr val="1B7A8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71316" y="186994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94476" y="2308860"/>
            <a:ext cx="0" cy="24231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25596" y="2551176"/>
            <a:ext cx="4937760" cy="438912"/>
          </a:xfrm>
          <a:prstGeom prst="roundRect">
            <a:avLst>
              <a:gd name="adj" fmla="val 14583"/>
            </a:avLst>
          </a:prstGeom>
          <a:solidFill>
            <a:srgbClr val="F0A227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71316" y="255117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llama-3.3-70b-versatile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4476" y="2990088"/>
            <a:ext cx="0" cy="24231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277356" y="2971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database data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25596" y="3232404"/>
            <a:ext cx="4937760" cy="438912"/>
          </a:xfrm>
          <a:prstGeom prst="roundRect">
            <a:avLst>
              <a:gd name="adj" fmla="val 14583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71316" y="323240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Call: execute_sql()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4476" y="3671316"/>
            <a:ext cx="0" cy="24231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625596" y="3913632"/>
            <a:ext cx="4937760" cy="438912"/>
          </a:xfrm>
          <a:prstGeom prst="roundRect">
            <a:avLst>
              <a:gd name="adj" fmla="val 14583"/>
            </a:avLst>
          </a:prstGeom>
          <a:solidFill>
            <a:srgbClr val="10243E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71316" y="391363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MCP Server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94476" y="4352544"/>
            <a:ext cx="0" cy="24231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265676" y="4594860"/>
            <a:ext cx="3657600" cy="502920"/>
          </a:xfrm>
          <a:prstGeom prst="can">
            <a:avLst/>
          </a:prstGeom>
          <a:solidFill>
            <a:srgbClr val="10243E"/>
          </a:solidFill>
          <a:ln w="15875">
            <a:solidFill>
              <a:srgbClr val="0A1830"/>
            </a:solidFill>
            <a:prstDash val="solid"/>
          </a:ln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11396" y="4685386"/>
            <a:ext cx="356616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23ai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94476" y="5097780"/>
            <a:ext cx="0" cy="24231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625596" y="5340096"/>
            <a:ext cx="4937760" cy="438912"/>
          </a:xfrm>
          <a:prstGeom prst="roundRect">
            <a:avLst>
              <a:gd name="adj" fmla="val 14583"/>
            </a:avLst>
          </a:prstGeom>
          <a:solidFill>
            <a:srgbClr val="3E5670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71316" y="53400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Result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94476" y="5779008"/>
            <a:ext cx="0" cy="242316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277356" y="5760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LangGraph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25596" y="6021324"/>
            <a:ext cx="4937760" cy="438912"/>
          </a:xfrm>
          <a:prstGeom prst="roundRect">
            <a:avLst>
              <a:gd name="adj" fmla="val 14583"/>
            </a:avLst>
          </a:prstGeom>
          <a:solidFill>
            <a:srgbClr val="F0A227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71316" y="602132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Answer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Enterprise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88636" y="1078992"/>
            <a:ext cx="2011680" cy="365760"/>
          </a:xfrm>
          <a:prstGeom prst="roundRect">
            <a:avLst>
              <a:gd name="adj" fmla="val 1750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34356" y="10789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094476" y="1444752"/>
            <a:ext cx="0" cy="15544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14316" y="1600200"/>
            <a:ext cx="2560320" cy="365760"/>
          </a:xfrm>
          <a:prstGeom prst="roundRect">
            <a:avLst>
              <a:gd name="adj" fmla="val 17500"/>
            </a:avLst>
          </a:prstGeom>
          <a:solidFill>
            <a:srgbClr val="1B7A8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0036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94476" y="1965960"/>
            <a:ext cx="0" cy="15544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31436" y="2121408"/>
            <a:ext cx="2926080" cy="365760"/>
          </a:xfrm>
          <a:prstGeom prst="roundRect">
            <a:avLst>
              <a:gd name="adj" fmla="val 17500"/>
            </a:avLst>
          </a:prstGeom>
          <a:solidFill>
            <a:srgbClr val="F0A227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77156" y="21214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— Llama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4476" y="2487168"/>
            <a:ext cx="0" cy="15544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31436" y="2642616"/>
            <a:ext cx="2926080" cy="475488"/>
          </a:xfrm>
          <a:prstGeom prst="diamond">
            <a:avLst/>
          </a:prstGeom>
          <a:solidFill>
            <a:srgbClr val="F0A227"/>
          </a:solidFill>
          <a:ln w="12700">
            <a:solidFill>
              <a:srgbClr val="8A6110"/>
            </a:solidFill>
            <a:prstDash val="solid"/>
          </a:ln>
          <a:effectLst>
            <a:outerShdw sx="100000" sy="100000" kx="0" ky="0" algn="bl" rotWithShape="0" blurRad="50800" dist="25400" dir="5400000">
              <a:srgbClr val="2030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77156" y="264261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tool should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call?"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4476" y="3118104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68596" y="3195828"/>
            <a:ext cx="2651760" cy="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68596" y="3195828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20356" y="3195828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02736" y="3273552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2E5C8A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48456" y="3273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Question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54496" y="3273552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2F8F6F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32735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Question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68596" y="3639312"/>
            <a:ext cx="0" cy="5486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20356" y="3639312"/>
            <a:ext cx="0" cy="5486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02736" y="3694176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2E5C8A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48456" y="36941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execute_sql()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4496" y="3694176"/>
            <a:ext cx="2331720" cy="365760"/>
          </a:xfrm>
          <a:prstGeom prst="roundRect">
            <a:avLst>
              <a:gd name="adj" fmla="val 17500"/>
            </a:avLst>
          </a:prstGeom>
          <a:solidFill>
            <a:srgbClr val="2F8F6F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0216" y="369417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vector_search()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68596" y="4059936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20356" y="4059936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768596" y="4137660"/>
            <a:ext cx="2651760" cy="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94476" y="4137660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905756" y="4215384"/>
            <a:ext cx="2377440" cy="365760"/>
          </a:xfrm>
          <a:prstGeom prst="roundRect">
            <a:avLst>
              <a:gd name="adj" fmla="val 1750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51476" y="4215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94476" y="4581144"/>
            <a:ext cx="0" cy="15544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05756" y="4736592"/>
            <a:ext cx="2377440" cy="365760"/>
          </a:xfrm>
          <a:prstGeom prst="roundRect">
            <a:avLst>
              <a:gd name="adj" fmla="val 17500"/>
            </a:avLst>
          </a:prstGeom>
          <a:solidFill>
            <a:srgbClr val="10243E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951476" y="47365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94476" y="5102352"/>
            <a:ext cx="0" cy="15544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094476" y="5257800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814316" y="5335524"/>
            <a:ext cx="2560320" cy="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814316" y="5335524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374636" y="5335524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694176" y="5413248"/>
            <a:ext cx="2240280" cy="365760"/>
          </a:xfrm>
          <a:prstGeom prst="roundRect">
            <a:avLst>
              <a:gd name="adj" fmla="val 17500"/>
            </a:avLst>
          </a:prstGeom>
          <a:solidFill>
            <a:srgbClr val="2E5C8A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739896" y="5413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54496" y="5413248"/>
            <a:ext cx="2240280" cy="365760"/>
          </a:xfrm>
          <a:prstGeom prst="roundRect">
            <a:avLst>
              <a:gd name="adj" fmla="val 17500"/>
            </a:avLst>
          </a:prstGeom>
          <a:solidFill>
            <a:srgbClr val="2F8F6F"/>
          </a:solidFill>
          <a:ln/>
          <a:effectLst>
            <a:outerShdw sx="100000" sy="100000" kx="0" ky="0" algn="bl" rotWithShape="0" blurRad="63500" dist="25400" dir="5400000">
              <a:srgbClr val="20304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00216" y="54132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14316" y="5779008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74636" y="5779008"/>
            <a:ext cx="0" cy="77724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814316" y="5856732"/>
            <a:ext cx="2560320" cy="0"/>
          </a:xfrm>
          <a:prstGeom prst="line">
            <a:avLst/>
          </a:prstGeom>
          <a:noFill/>
          <a:ln w="1587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094476" y="5856732"/>
            <a:ext cx="0" cy="155448"/>
          </a:xfrm>
          <a:prstGeom prst="line">
            <a:avLst/>
          </a:prstGeom>
          <a:noFill/>
          <a:ln w="22225">
            <a:solidFill>
              <a:srgbClr val="AEB9C2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4494276" y="6012180"/>
            <a:ext cx="3200400" cy="402336"/>
          </a:xfrm>
          <a:prstGeom prst="can">
            <a:avLst/>
          </a:prstGeom>
          <a:solidFill>
            <a:srgbClr val="10243E"/>
          </a:solidFill>
          <a:ln w="15875">
            <a:solidFill>
              <a:srgbClr val="0A1830"/>
            </a:solidFill>
            <a:prstDash val="solid"/>
          </a:ln>
          <a:effectLst>
            <a:outerShdw sx="100000" sy="100000" kx="0" ky="0" algn="bl" rotWithShape="0" blurRad="63500" dist="25400" dir="5400000">
              <a:srgbClr val="203040">
                <a:alpha val="2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39996" y="6084600"/>
            <a:ext cx="31089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Database 23ai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9582912" y="1097280"/>
            <a:ext cx="146304" cy="146304"/>
          </a:xfrm>
          <a:prstGeom prst="ellipse">
            <a:avLst/>
          </a:prstGeom>
          <a:solidFill>
            <a:srgbClr val="1B7A8C"/>
          </a:solidFill>
          <a:ln/>
        </p:spPr>
      </p:sp>
      <p:sp>
        <p:nvSpPr>
          <p:cNvPr id="54" name="Text 52"/>
          <p:cNvSpPr/>
          <p:nvPr/>
        </p:nvSpPr>
        <p:spPr>
          <a:xfrm>
            <a:off x="9802368" y="1033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582912" y="1399032"/>
            <a:ext cx="146304" cy="146304"/>
          </a:xfrm>
          <a:prstGeom prst="ellipse">
            <a:avLst/>
          </a:prstGeom>
          <a:solidFill>
            <a:srgbClr val="F0A227"/>
          </a:solidFill>
          <a:ln/>
        </p:spPr>
      </p:sp>
      <p:sp>
        <p:nvSpPr>
          <p:cNvPr id="56" name="Text 54"/>
          <p:cNvSpPr/>
          <p:nvPr/>
        </p:nvSpPr>
        <p:spPr>
          <a:xfrm>
            <a:off x="9802368" y="1335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582912" y="1700784"/>
            <a:ext cx="146304" cy="146304"/>
          </a:xfrm>
          <a:prstGeom prst="ellipse">
            <a:avLst/>
          </a:prstGeom>
          <a:solidFill>
            <a:srgbClr val="10243E"/>
          </a:solidFill>
          <a:ln/>
        </p:spPr>
      </p:sp>
      <p:sp>
        <p:nvSpPr>
          <p:cNvPr id="58" name="Text 56"/>
          <p:cNvSpPr/>
          <p:nvPr/>
        </p:nvSpPr>
        <p:spPr>
          <a:xfrm>
            <a:off x="9802368" y="16367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layer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582912" y="2002536"/>
            <a:ext cx="146304" cy="146304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60" name="Text 58"/>
          <p:cNvSpPr/>
          <p:nvPr/>
        </p:nvSpPr>
        <p:spPr>
          <a:xfrm>
            <a:off x="9802368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path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582912" y="2304288"/>
            <a:ext cx="146304" cy="146304"/>
          </a:xfrm>
          <a:prstGeom prst="ellipse">
            <a:avLst/>
          </a:prstGeom>
          <a:solidFill>
            <a:srgbClr val="2F8F6F"/>
          </a:solidFill>
          <a:ln/>
        </p:spPr>
      </p:sp>
      <p:sp>
        <p:nvSpPr>
          <p:cNvPr id="62" name="Text 60"/>
          <p:cNvSpPr/>
          <p:nvPr/>
        </p:nvSpPr>
        <p:spPr>
          <a:xfrm>
            <a:off x="9802368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path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4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02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201168" cy="201168"/>
          </a:xfrm>
          <a:prstGeom prst="ellipse">
            <a:avLst/>
          </a:prstGeom>
          <a:solidFill>
            <a:srgbClr val="1B7A8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810512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standardizes tool exposure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157984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for every tool — SQL, vector search, or anything else — so the agent layer never hard-codes an integration.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98064"/>
            <a:ext cx="201168" cy="201168"/>
          </a:xfrm>
          <a:prstGeom prst="ellipse">
            <a:avLst/>
          </a:prstGeom>
          <a:solidFill>
            <a:srgbClr val="F0A227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24912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owns orchestration &amp; state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072384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the request, tracks history, and can checkpoint for human-in-the-loop review at any step.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12464"/>
            <a:ext cx="201168" cy="201168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39312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delivers low-latency reasoning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3986784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Llama inference means tool-selection and final-answer generation stay responsive end-to-end.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626864"/>
            <a:ext cx="201168" cy="201168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53712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 unifies SQL + vector search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4901184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and semantic retrieval live in one converged engine — no separate vector database to sync.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541264"/>
            <a:ext cx="201168" cy="201168"/>
          </a:xfrm>
          <a:prstGeom prst="ellipse">
            <a:avLst/>
          </a:prstGeom>
          <a:solidFill>
            <a:srgbClr val="2F8F6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5468112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generalizes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5815584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9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Oracle for any other MCP-compatible tool set and the same LangGraph + Groq skeleton still applies.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2026-08-28T03:24:29Z</dcterms:created>
  <dcterms:modified xsi:type="dcterms:W3CDTF">2026-08-28T03:24:29Z</dcterms:modified>
</cp:coreProperties>
</file>