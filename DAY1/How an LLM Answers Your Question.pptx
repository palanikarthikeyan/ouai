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92E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40080"/>
            <a:ext cx="722376" cy="384048"/>
          </a:xfrm>
          <a:prstGeom prst="roundRect">
            <a:avLst>
              <a:gd name="adj" fmla="val 50000"/>
            </a:avLst>
          </a:prstGeom>
          <a:solidFill>
            <a:srgbClr val="24365E"/>
          </a:solidFill>
          <a:ln w="9525">
            <a:solidFill>
              <a:srgbClr val="3A4E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722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55064" y="640080"/>
            <a:ext cx="521208" cy="384048"/>
          </a:xfrm>
          <a:prstGeom prst="roundRect">
            <a:avLst>
              <a:gd name="adj" fmla="val 50000"/>
            </a:avLst>
          </a:prstGeom>
          <a:solidFill>
            <a:srgbClr val="24365E"/>
          </a:solidFill>
          <a:ln w="9525">
            <a:solidFill>
              <a:srgbClr val="3A4E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55064" y="640080"/>
            <a:ext cx="521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640080"/>
            <a:ext cx="521208" cy="384048"/>
          </a:xfrm>
          <a:prstGeom prst="roundRect">
            <a:avLst>
              <a:gd name="adj" fmla="val 50000"/>
            </a:avLst>
          </a:prstGeom>
          <a:solidFill>
            <a:srgbClr val="24365E"/>
          </a:solidFill>
          <a:ln w="9525">
            <a:solidFill>
              <a:srgbClr val="3A4E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640080"/>
            <a:ext cx="521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16936" y="640080"/>
            <a:ext cx="420624" cy="384048"/>
          </a:xfrm>
          <a:prstGeom prst="roundRect">
            <a:avLst>
              <a:gd name="adj" fmla="val 50000"/>
            </a:avLst>
          </a:prstGeom>
          <a:solidFill>
            <a:srgbClr val="24365E"/>
          </a:solidFill>
          <a:ln w="9525">
            <a:solidFill>
              <a:srgbClr val="3A4E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16936" y="64008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47288" y="640080"/>
            <a:ext cx="411480" cy="384048"/>
          </a:xfrm>
          <a:prstGeom prst="roundRect">
            <a:avLst>
              <a:gd name="adj" fmla="val 50000"/>
            </a:avLst>
          </a:prstGeom>
          <a:solidFill>
            <a:srgbClr val="10192E"/>
          </a:solidFill>
          <a:ln w="9525">
            <a:solidFill>
              <a:srgbClr val="1019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64008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68496" y="640080"/>
            <a:ext cx="621792" cy="384048"/>
          </a:xfrm>
          <a:prstGeom prst="roundRect">
            <a:avLst>
              <a:gd name="adj" fmla="val 50000"/>
            </a:avLst>
          </a:prstGeom>
          <a:solidFill>
            <a:srgbClr val="1E4A3D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68496" y="64008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0016" y="640080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1E4A3D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64008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ificial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33872" y="64008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1E4A3D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3872" y="6400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640080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1E4A3D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64008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ligence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00416" y="640080"/>
            <a:ext cx="621792" cy="384048"/>
          </a:xfrm>
          <a:prstGeom prst="roundRect">
            <a:avLst>
              <a:gd name="adj" fmla="val 50000"/>
            </a:avLst>
          </a:prstGeom>
          <a:solidFill>
            <a:srgbClr val="1E4A3D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00416" y="64008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LLM Answers Your Question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walkthrough: from typed question to generated response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25400">
            <a:solidFill>
              <a:srgbClr val="BA75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TechTrainerPro  |  Krosum Labs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fulfilling your yearning for learning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seven-stage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 response — short or long — moves through the same loop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412095" cy="3291840"/>
          </a:xfrm>
          <a:prstGeom prst="roundRect">
            <a:avLst>
              <a:gd name="adj" fmla="val 518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5231" y="2148840"/>
            <a:ext cx="438912" cy="438912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1035231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" y="2743200"/>
            <a:ext cx="1265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1229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text into sub-word units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960735" y="33375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61903" y="1920240"/>
            <a:ext cx="1412095" cy="3291840"/>
          </a:xfrm>
          <a:prstGeom prst="roundRect">
            <a:avLst>
              <a:gd name="adj" fmla="val 5180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48494" y="2148840"/>
            <a:ext cx="438912" cy="438912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12" name="Text 10"/>
          <p:cNvSpPr/>
          <p:nvPr/>
        </p:nvSpPr>
        <p:spPr>
          <a:xfrm>
            <a:off x="2648494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35055" y="2743200"/>
            <a:ext cx="1265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53343" y="3200400"/>
            <a:ext cx="1229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tokens into meaning vectors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73998" y="33375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75166" y="1920240"/>
            <a:ext cx="1412095" cy="3291840"/>
          </a:xfrm>
          <a:prstGeom prst="roundRect">
            <a:avLst>
              <a:gd name="adj" fmla="val 518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61757" y="2148840"/>
            <a:ext cx="438912" cy="438912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8" name="Text 16"/>
          <p:cNvSpPr/>
          <p:nvPr/>
        </p:nvSpPr>
        <p:spPr>
          <a:xfrm>
            <a:off x="4261757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48318" y="2743200"/>
            <a:ext cx="1265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66606" y="3200400"/>
            <a:ext cx="1229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layers weigh context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87261" y="33375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88429" y="1920240"/>
            <a:ext cx="1412095" cy="3291840"/>
          </a:xfrm>
          <a:prstGeom prst="roundRect">
            <a:avLst>
              <a:gd name="adj" fmla="val 5180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75020" y="2148840"/>
            <a:ext cx="438912" cy="438912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24" name="Text 22"/>
          <p:cNvSpPr/>
          <p:nvPr/>
        </p:nvSpPr>
        <p:spPr>
          <a:xfrm>
            <a:off x="5875020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61581" y="2743200"/>
            <a:ext cx="1265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79869" y="3200400"/>
            <a:ext cx="1229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 probability over the vocabulary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00523" y="33375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001691" y="1920240"/>
            <a:ext cx="1412095" cy="3291840"/>
          </a:xfrm>
          <a:prstGeom prst="roundRect">
            <a:avLst>
              <a:gd name="adj" fmla="val 518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88283" y="2148840"/>
            <a:ext cx="438912" cy="438912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30" name="Text 28"/>
          <p:cNvSpPr/>
          <p:nvPr/>
        </p:nvSpPr>
        <p:spPr>
          <a:xfrm>
            <a:off x="7488283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74843" y="2743200"/>
            <a:ext cx="1265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93131" y="3200400"/>
            <a:ext cx="1229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next token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413786" y="33375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614954" y="1920240"/>
            <a:ext cx="1412095" cy="3291840"/>
          </a:xfrm>
          <a:prstGeom prst="roundRect">
            <a:avLst>
              <a:gd name="adj" fmla="val 5180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01546" y="2148840"/>
            <a:ext cx="438912" cy="438912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36" name="Text 34"/>
          <p:cNvSpPr/>
          <p:nvPr/>
        </p:nvSpPr>
        <p:spPr>
          <a:xfrm>
            <a:off x="9101546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88106" y="2743200"/>
            <a:ext cx="1265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706394" y="3200400"/>
            <a:ext cx="1229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token, repeat the pass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027049" y="33375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228217" y="1920240"/>
            <a:ext cx="1412095" cy="3291840"/>
          </a:xfrm>
          <a:prstGeom prst="roundRect">
            <a:avLst>
              <a:gd name="adj" fmla="val 518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714809" y="2148840"/>
            <a:ext cx="438912" cy="438912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42" name="Text 40"/>
          <p:cNvSpPr/>
          <p:nvPr/>
        </p:nvSpPr>
        <p:spPr>
          <a:xfrm>
            <a:off x="10714809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301369" y="2743200"/>
            <a:ext cx="1265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0319657" y="3200400"/>
            <a:ext cx="1229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end token, decode to text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48640" y="5532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3–6 repeat once per generated token — this is why longer answers take longer to produce.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LLM answers your question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question is broken into sub-word units before the model sees any words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6304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whole words.  </a:t>
            </a:r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vocabulary of ~50,000–100,000 sub-word pieces balances coverage against sequence length.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7744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the unknown.  </a:t>
            </a:r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Rare, misspelled, or made-up words still get processed — they just split into smaller known chunks.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29184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not text.  </a:t>
            </a:r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maps to an integer ID via a lookup table (the tokenizer's vocabulary).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20624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Costed by the token.  </a:t>
            </a:r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pricing, context windows, and rate limits are all measured in tokens, not characters or words.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903720" y="1600200"/>
            <a:ext cx="4754880" cy="4114800"/>
          </a:xfrm>
          <a:prstGeom prst="roundRect">
            <a:avLst>
              <a:gd name="adj" fmla="val 2222"/>
            </a:avLst>
          </a:prstGeom>
          <a:solidFill>
            <a:srgbClr val="F5F6F8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7830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78040" y="2148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"unbelievable"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78040" y="2651760"/>
            <a:ext cx="676656" cy="457200"/>
          </a:xfrm>
          <a:prstGeom prst="roundRect">
            <a:avLst>
              <a:gd name="adj" fmla="val 5000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2651760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91856" y="2651760"/>
            <a:ext cx="1115568" cy="457200"/>
          </a:xfrm>
          <a:prstGeom prst="roundRect">
            <a:avLst>
              <a:gd name="adj" fmla="val 5000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91856" y="265176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244584" y="2651760"/>
            <a:ext cx="896112" cy="457200"/>
          </a:xfrm>
          <a:prstGeom prst="roundRect">
            <a:avLst>
              <a:gd name="adj" fmla="val 5000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44584" y="265176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4290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IDs: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78040" y="3749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15918   →   9195   →   481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178040" y="4297680"/>
            <a:ext cx="4206240" cy="0"/>
          </a:xfrm>
          <a:prstGeom prst="line">
            <a:avLst/>
          </a:prstGeom>
          <a:noFill/>
          <a:ln w="12700">
            <a:solidFill>
              <a:srgbClr val="D9DC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8040" y="44348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AI?"  →  4 tokens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"Artificial intelligence"  →  2 tokens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of 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ID becomes a dense vector that encodes meaning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6304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High-dimensional vectors.  </a:t>
            </a:r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use 768 to 12,000+ dimensions per token depending on scale — each dimension captures a learned facet of meaning.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42316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encodes semantics.  </a:t>
            </a:r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concepts land close together in this space; “king”, “queen” and “monarch” cluster near each other.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8328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gets added in.  </a:t>
            </a:r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process tokens in parallel, so a positional signal is injected — without it, “dog bites man” and “man bites dog” would look identical.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34340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Learned, not hand-built.  </a:t>
            </a:r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vectors are parameters tuned during training, not a dictionary lookup — meaning emerges from usage patterns in the training data.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903720" y="1600200"/>
            <a:ext cx="4754880" cy="4114800"/>
          </a:xfrm>
          <a:prstGeom prst="roundRect">
            <a:avLst>
              <a:gd name="adj" fmla="val 2222"/>
            </a:avLst>
          </a:prstGeom>
          <a:solidFill>
            <a:srgbClr val="F5F6F8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8288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"AI"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224028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2240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78040" y="28346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embedding lookup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78040" y="3236976"/>
            <a:ext cx="384048" cy="877824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20" name="Shape 18"/>
          <p:cNvSpPr/>
          <p:nvPr/>
        </p:nvSpPr>
        <p:spPr>
          <a:xfrm>
            <a:off x="7690104" y="3730752"/>
            <a:ext cx="384048" cy="384048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21" name="Shape 19"/>
          <p:cNvSpPr/>
          <p:nvPr/>
        </p:nvSpPr>
        <p:spPr>
          <a:xfrm>
            <a:off x="8202168" y="3434486"/>
            <a:ext cx="384048" cy="680314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22" name="Shape 20"/>
          <p:cNvSpPr/>
          <p:nvPr/>
        </p:nvSpPr>
        <p:spPr>
          <a:xfrm>
            <a:off x="8714232" y="3895344"/>
            <a:ext cx="384048" cy="219456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23" name="Shape 21"/>
          <p:cNvSpPr/>
          <p:nvPr/>
        </p:nvSpPr>
        <p:spPr>
          <a:xfrm>
            <a:off x="9226296" y="3566160"/>
            <a:ext cx="384048" cy="548640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24" name="Shape 22"/>
          <p:cNvSpPr/>
          <p:nvPr/>
        </p:nvSpPr>
        <p:spPr>
          <a:xfrm>
            <a:off x="9738360" y="3127248"/>
            <a:ext cx="384048" cy="987552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50424" y="3785616"/>
            <a:ext cx="384048" cy="329184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26" name="Shape 24"/>
          <p:cNvSpPr/>
          <p:nvPr/>
        </p:nvSpPr>
        <p:spPr>
          <a:xfrm>
            <a:off x="10762488" y="3346704"/>
            <a:ext cx="384048" cy="768096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27" name="Text 25"/>
          <p:cNvSpPr/>
          <p:nvPr/>
        </p:nvSpPr>
        <p:spPr>
          <a:xfrm>
            <a:off x="7178040" y="4206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[ 0.14, -0.62, 0.87, ... ]  (one of thousands of dimensions)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78040" y="4754880"/>
            <a:ext cx="4206240" cy="0"/>
          </a:xfrm>
          <a:prstGeom prst="line">
            <a:avLst/>
          </a:prstGeom>
          <a:noFill/>
          <a:ln w="12700">
            <a:solidFill>
              <a:srgbClr val="D9DC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78040" y="489204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positional encoding added so the model knows this is token #3 in the sequence, not just “AI” in isolation.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of 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Self-attention across transformer layers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3444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to hundreds of stacked layers let every token weigh every other token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1732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Query, Key, Value.  </a:t>
            </a:r>
            <a:pPr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produces three vectors; a token's Query is compared against every other token's Key to score relevance.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50008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attention.  </a:t>
            </a:r>
            <a:pPr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attention “heads” run in parallel per layer, each learning a different kind of relationship — grammar, coreference, topic.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1985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282696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Stacked, not single-shot.  </a:t>
            </a:r>
            <a:pPr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one layer feeds the next — early layers pick up local patterns, deeper layers build abstract, whole-sentence understanding.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35254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215384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refinement.  </a:t>
            </a:r>
            <a:pPr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attention, each layer also runs a feed-forward network that further transforms each token's representation.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03720" y="1554480"/>
            <a:ext cx="4754880" cy="4160520"/>
          </a:xfrm>
          <a:prstGeom prst="roundRect">
            <a:avLst>
              <a:gd name="adj" fmla="val 2198"/>
            </a:avLst>
          </a:prstGeom>
          <a:solidFill>
            <a:srgbClr val="F5F6F8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6916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stack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2011680"/>
            <a:ext cx="4206240" cy="347472"/>
          </a:xfrm>
          <a:prstGeom prst="roundRect">
            <a:avLst>
              <a:gd name="adj" fmla="val 15789"/>
            </a:avLst>
          </a:prstGeom>
          <a:solidFill>
            <a:srgbClr val="EEEDFE"/>
          </a:solidFill>
          <a:ln w="9525">
            <a:solidFill>
              <a:srgbClr val="AFA9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20116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78040" y="2468880"/>
            <a:ext cx="4206240" cy="347472"/>
          </a:xfrm>
          <a:prstGeom prst="roundRect">
            <a:avLst>
              <a:gd name="adj" fmla="val 15789"/>
            </a:avLst>
          </a:prstGeom>
          <a:solidFill>
            <a:srgbClr val="EEEDFE"/>
          </a:solidFill>
          <a:ln w="9525">
            <a:solidFill>
              <a:srgbClr val="AFA9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24688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78040" y="2926080"/>
            <a:ext cx="4206240" cy="347472"/>
          </a:xfrm>
          <a:prstGeom prst="roundRect">
            <a:avLst>
              <a:gd name="adj" fmla="val 15789"/>
            </a:avLst>
          </a:prstGeom>
          <a:solidFill>
            <a:srgbClr val="EEEDFE"/>
          </a:solidFill>
          <a:ln w="9525">
            <a:solidFill>
              <a:srgbClr val="AFA9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9260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 flipV="1">
            <a:off x="7616952" y="3383280"/>
            <a:ext cx="1645920" cy="594360"/>
          </a:xfrm>
          <a:prstGeom prst="line">
            <a:avLst/>
          </a:prstGeom>
          <a:noFill/>
          <a:ln w="12700">
            <a:solidFill>
              <a:srgbClr val="BA7517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8439912" y="3383280"/>
            <a:ext cx="822960" cy="594360"/>
          </a:xfrm>
          <a:prstGeom prst="line">
            <a:avLst/>
          </a:prstGeom>
          <a:noFill/>
          <a:ln w="38100">
            <a:solidFill>
              <a:srgbClr val="BA7517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62872" y="3383280"/>
            <a:ext cx="822960" cy="594360"/>
          </a:xfrm>
          <a:prstGeom prst="line">
            <a:avLst/>
          </a:prstGeom>
          <a:noFill/>
          <a:ln w="38100">
            <a:solidFill>
              <a:srgbClr val="BA7517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62872" y="3383280"/>
            <a:ext cx="1645920" cy="594360"/>
          </a:xfrm>
          <a:prstGeom prst="line">
            <a:avLst/>
          </a:prstGeom>
          <a:noFill/>
          <a:ln w="12700">
            <a:solidFill>
              <a:srgbClr val="BA7517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60920" y="3977640"/>
            <a:ext cx="512064" cy="384048"/>
          </a:xfrm>
          <a:prstGeom prst="roundRect">
            <a:avLst>
              <a:gd name="adj" fmla="val 14286"/>
            </a:avLst>
          </a:prstGeom>
          <a:solidFill>
            <a:srgbClr val="E8E8E8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60920" y="397764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183880" y="3977640"/>
            <a:ext cx="512064" cy="384048"/>
          </a:xfrm>
          <a:prstGeom prst="roundRect">
            <a:avLst>
              <a:gd name="adj" fmla="val 14286"/>
            </a:avLst>
          </a:prstGeom>
          <a:solidFill>
            <a:srgbClr val="E8E8E8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397764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006840" y="3977640"/>
            <a:ext cx="512064" cy="384048"/>
          </a:xfrm>
          <a:prstGeom prst="roundRect">
            <a:avLst>
              <a:gd name="adj" fmla="val 14286"/>
            </a:avLst>
          </a:prstGeom>
          <a:solidFill>
            <a:srgbClr val="BA7517"/>
          </a:solidFill>
          <a:ln w="9525">
            <a:solidFill>
              <a:srgbClr val="BA75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06840" y="397764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829800" y="3977640"/>
            <a:ext cx="512064" cy="384048"/>
          </a:xfrm>
          <a:prstGeom prst="roundRect">
            <a:avLst>
              <a:gd name="adj" fmla="val 14286"/>
            </a:avLst>
          </a:prstGeom>
          <a:solidFill>
            <a:srgbClr val="E8E8E8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29800" y="397764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652760" y="3977640"/>
            <a:ext cx="512064" cy="384048"/>
          </a:xfrm>
          <a:prstGeom prst="roundRect">
            <a:avLst>
              <a:gd name="adj" fmla="val 14286"/>
            </a:avLst>
          </a:prstGeom>
          <a:solidFill>
            <a:srgbClr val="E8E8E8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52760" y="397764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78040" y="45720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thickness = attention weight from “sat” to each other token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178040" y="5212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GPT-class models: 32–120 layers  |  Each layer repeats this attend-and-refine step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of 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the next token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layer's output becomes a probability over the entire vocabulary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6304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linear layer, one softmax.  </a:t>
            </a:r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hidden state is projected onto the vocabulary size (tens of thousands of possible tokens).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42316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gets a score.  </a:t>
            </a:r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turns raw scores (logits) into a proper probability distribution that sums to 100%.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8328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single answer.  </a:t>
            </a:r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outputs one fixed “correct” token — it outputs a ranked likelihood over all of them.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34340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step repeats.  </a:t>
            </a:r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happens fresh after every single token generated, using the growing sequence so far.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903720" y="1600200"/>
            <a:ext cx="4754880" cy="4114800"/>
          </a:xfrm>
          <a:prstGeom prst="roundRect">
            <a:avLst>
              <a:gd name="adj" fmla="val 2222"/>
            </a:avLst>
          </a:prstGeom>
          <a:solidFill>
            <a:srgbClr val="F5F6F8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7830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"Artificial intelligence is"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78040" y="22860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0" y="2340864"/>
            <a:ext cx="2377440" cy="256032"/>
          </a:xfrm>
          <a:prstGeom prst="roundRect">
            <a:avLst>
              <a:gd name="adj" fmla="val 17857"/>
            </a:avLst>
          </a:prstGeom>
          <a:solidFill>
            <a:srgbClr val="E8E8E8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2340864"/>
            <a:ext cx="2377440" cy="256032"/>
          </a:xfrm>
          <a:prstGeom prst="roundRect">
            <a:avLst>
              <a:gd name="adj" fmla="val 17857"/>
            </a:avLst>
          </a:prstGeom>
          <a:solidFill>
            <a:srgbClr val="BA7517"/>
          </a:solidFill>
          <a:ln/>
        </p:spPr>
      </p:sp>
      <p:sp>
        <p:nvSpPr>
          <p:cNvPr id="19" name="Text 17"/>
          <p:cNvSpPr/>
          <p:nvPr/>
        </p:nvSpPr>
        <p:spPr>
          <a:xfrm>
            <a:off x="10698480" y="22860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78040" y="27432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0" y="2798064"/>
            <a:ext cx="2377440" cy="256032"/>
          </a:xfrm>
          <a:prstGeom prst="roundRect">
            <a:avLst>
              <a:gd name="adj" fmla="val 17857"/>
            </a:avLst>
          </a:prstGeom>
          <a:solidFill>
            <a:srgbClr val="E8E8E8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0" y="2798064"/>
            <a:ext cx="1358537" cy="256032"/>
          </a:xfrm>
          <a:prstGeom prst="roundRect">
            <a:avLst>
              <a:gd name="adj" fmla="val 17857"/>
            </a:avLst>
          </a:prstGeom>
          <a:solidFill>
            <a:srgbClr val="0F6E56"/>
          </a:solidFill>
          <a:ln/>
        </p:spPr>
      </p:sp>
      <p:sp>
        <p:nvSpPr>
          <p:cNvPr id="23" name="Text 21"/>
          <p:cNvSpPr/>
          <p:nvPr/>
        </p:nvSpPr>
        <p:spPr>
          <a:xfrm>
            <a:off x="10698480" y="27432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78040" y="32004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29600" y="3255264"/>
            <a:ext cx="2377440" cy="256032"/>
          </a:xfrm>
          <a:prstGeom prst="roundRect">
            <a:avLst>
              <a:gd name="adj" fmla="val 17857"/>
            </a:avLst>
          </a:prstGeom>
          <a:solidFill>
            <a:srgbClr val="E8E8E8"/>
          </a:solidFill>
          <a:ln/>
        </p:spPr>
      </p:sp>
      <p:sp>
        <p:nvSpPr>
          <p:cNvPr id="26" name="Shape 24"/>
          <p:cNvSpPr/>
          <p:nvPr/>
        </p:nvSpPr>
        <p:spPr>
          <a:xfrm>
            <a:off x="8229600" y="3255264"/>
            <a:ext cx="905691" cy="256032"/>
          </a:xfrm>
          <a:prstGeom prst="roundRect">
            <a:avLst>
              <a:gd name="adj" fmla="val 17857"/>
            </a:avLst>
          </a:prstGeom>
          <a:solidFill>
            <a:srgbClr val="0F6E56"/>
          </a:solidFill>
          <a:ln/>
        </p:spPr>
      </p:sp>
      <p:sp>
        <p:nvSpPr>
          <p:cNvPr id="27" name="Text 25"/>
          <p:cNvSpPr/>
          <p:nvPr/>
        </p:nvSpPr>
        <p:spPr>
          <a:xfrm>
            <a:off x="10698480" y="32004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78040" y="3657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229600" y="3712464"/>
            <a:ext cx="2377440" cy="256032"/>
          </a:xfrm>
          <a:prstGeom prst="roundRect">
            <a:avLst>
              <a:gd name="adj" fmla="val 17857"/>
            </a:avLst>
          </a:prstGeom>
          <a:solidFill>
            <a:srgbClr val="E8E8E8"/>
          </a:solidFill>
          <a:ln/>
        </p:spPr>
      </p:sp>
      <p:sp>
        <p:nvSpPr>
          <p:cNvPr id="30" name="Shape 28"/>
          <p:cNvSpPr/>
          <p:nvPr/>
        </p:nvSpPr>
        <p:spPr>
          <a:xfrm>
            <a:off x="8229600" y="3712464"/>
            <a:ext cx="622663" cy="256032"/>
          </a:xfrm>
          <a:prstGeom prst="roundRect">
            <a:avLst>
              <a:gd name="adj" fmla="val 17857"/>
            </a:avLst>
          </a:prstGeom>
          <a:solidFill>
            <a:srgbClr val="0F6E56"/>
          </a:solidFill>
          <a:ln/>
        </p:spPr>
      </p:sp>
      <p:sp>
        <p:nvSpPr>
          <p:cNvPr id="31" name="Text 29"/>
          <p:cNvSpPr/>
          <p:nvPr/>
        </p:nvSpPr>
        <p:spPr>
          <a:xfrm>
            <a:off x="10698480" y="36576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78040" y="41148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229600" y="4169664"/>
            <a:ext cx="2377440" cy="256032"/>
          </a:xfrm>
          <a:prstGeom prst="roundRect">
            <a:avLst>
              <a:gd name="adj" fmla="val 17857"/>
            </a:avLst>
          </a:prstGeom>
          <a:solidFill>
            <a:srgbClr val="E8E8E8"/>
          </a:solidFill>
          <a:ln/>
        </p:spPr>
      </p:sp>
      <p:sp>
        <p:nvSpPr>
          <p:cNvPr id="34" name="Shape 32"/>
          <p:cNvSpPr/>
          <p:nvPr/>
        </p:nvSpPr>
        <p:spPr>
          <a:xfrm>
            <a:off x="8229600" y="4169664"/>
            <a:ext cx="396240" cy="256032"/>
          </a:xfrm>
          <a:prstGeom prst="roundRect">
            <a:avLst>
              <a:gd name="adj" fmla="val 17857"/>
            </a:avLst>
          </a:prstGeom>
          <a:solidFill>
            <a:srgbClr val="0F6E56"/>
          </a:solidFill>
          <a:ln/>
        </p:spPr>
      </p:sp>
      <p:sp>
        <p:nvSpPr>
          <p:cNvPr id="35" name="Text 33"/>
          <p:cNvSpPr/>
          <p:nvPr/>
        </p:nvSpPr>
        <p:spPr>
          <a:xfrm>
            <a:off x="10698480" y="41148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178040" y="4709160"/>
            <a:ext cx="4206240" cy="0"/>
          </a:xfrm>
          <a:prstGeom prst="line">
            <a:avLst/>
          </a:prstGeom>
          <a:noFill/>
          <a:ln w="12700">
            <a:solidFill>
              <a:srgbClr val="D9DC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78040" y="48463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five are shown — the real distribution scores every token in the vocabulary (~50,000+).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of 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Sampling the next token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token is chosen from the distribution — how it's chosen is tunable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074920" cy="1920240"/>
          </a:xfrm>
          <a:prstGeom prst="roundRect">
            <a:avLst>
              <a:gd name="adj" fmla="val 476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Greedy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pick the single highest-probability token. Deterministic, but can sound repetitive or flat.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0" y="1600200"/>
            <a:ext cx="5074920" cy="1920240"/>
          </a:xfrm>
          <a:prstGeom prst="roundRect">
            <a:avLst>
              <a:gd name="adj" fmla="val 476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7830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17920" y="2194560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the distribution before sampling. Low = focused and predictable; high = more varied and creative.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074920" cy="1920240"/>
          </a:xfrm>
          <a:prstGeom prst="roundRect">
            <a:avLst>
              <a:gd name="adj" fmla="val 4762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0233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434840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sampling to only the k most likely tokens, discarding the long unlikely tail.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0" y="3840480"/>
            <a:ext cx="5074920" cy="1920240"/>
          </a:xfrm>
          <a:prstGeom prst="roundRect">
            <a:avLst>
              <a:gd name="adj" fmla="val 4762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40233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Top-p (nucleus)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4434840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from the smallest set of tokens whose cumulative probability crosses a threshold p.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852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parameters trainers and developers tune via API calls (temperature, top_p, top_k) to control an assistant's tone.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of 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autoregressive loop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9601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sampled token is appended, and the entire sequence runs through the model again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6304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token per full pass.  </a:t>
            </a:r>
            <a:pPr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word requires re-running the sequence through every layer — this is why longer responses take visibly longer.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42316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“Auto-regressive” means self-referential.  </a:t>
            </a:r>
            <a:pPr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prediction is conditioned on everything generated so far, including the model's own earlier output.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8328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KV-caching speeds this up.  </a:t>
            </a:r>
            <a:pPr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and values computed for earlier tokens are cached rather than recomputed on every pass — a major inference optimization.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34340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global plan.  </a:t>
            </a:r>
            <a:pPr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isn't outlining the whole answer in advance; structure emerges one locally-plausible token at a time.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03720" y="1600200"/>
            <a:ext cx="4754880" cy="4114800"/>
          </a:xfrm>
          <a:prstGeom prst="roundRect">
            <a:avLst>
              <a:gd name="adj" fmla="val 2222"/>
            </a:avLst>
          </a:prstGeom>
          <a:solidFill>
            <a:srgbClr val="F5F6F8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1920240"/>
            <a:ext cx="3931920" cy="548640"/>
          </a:xfrm>
          <a:prstGeom prst="roundRect">
            <a:avLst>
              <a:gd name="adj" fmla="val 16667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19202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so far: “...AI is the”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0" y="2606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full model pass (stages 2–4)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0" y="3017520"/>
            <a:ext cx="3931920" cy="548640"/>
          </a:xfrm>
          <a:prstGeom prst="roundRect">
            <a:avLst>
              <a:gd name="adj" fmla="val 16667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3017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token sampled: "simulation"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0" y="3703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append to sequence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0" y="4114800"/>
            <a:ext cx="3931920" cy="548640"/>
          </a:xfrm>
          <a:prstGeom prst="roundRect">
            <a:avLst>
              <a:gd name="adj" fmla="val 16667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4114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so far: “...AI is the simulation”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0" y="4800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repeats until a stop token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 of 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Stopping and decoding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ends and the token sequence becomes readable text again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6304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End-of-sequence token.  </a:t>
            </a:r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 learned token signals “this response is complete” and halts generation.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42316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Max-length limit.  </a:t>
            </a:r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also stops if a configured token limit is hit first, even mid-thought.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8328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Detokenization.  </a:t>
            </a:r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list of generated token IDs is mapped back through the vocabulary into readable characters and words.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34340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to the user.  </a:t>
            </a:r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chat interfaces, tokens are typically decoded and displayed as soon as each one is generated — not all at once at the end.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903720" y="1600200"/>
            <a:ext cx="4754880" cy="4114800"/>
          </a:xfrm>
          <a:prstGeom prst="roundRect">
            <a:avLst>
              <a:gd name="adj" fmla="val 2222"/>
            </a:avLst>
          </a:prstGeom>
          <a:solidFill>
            <a:srgbClr val="F5F6F8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7830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decoded response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78040" y="2194560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23317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"Artificial intelligence is the simulation of human intelligence by machines."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78040" y="3520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14 tokens, one full model pass each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78040" y="3977640"/>
            <a:ext cx="4206240" cy="0"/>
          </a:xfrm>
          <a:prstGeom prst="line">
            <a:avLst/>
          </a:prstGeom>
          <a:noFill/>
          <a:ln w="12700">
            <a:solidFill>
              <a:srgbClr val="D9DC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411480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was retrieved or looked up — every character above came from repeating stages 2 through 6.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 of 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in practice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lookup step anywhere in this pipeline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1F2E52"/>
          </a:solidFill>
          <a:ln w="15875">
            <a:solidFill>
              <a:srgbClr val="0F6E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148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Fluent, context-aware language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7490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Generalizes across topics never seen verbatim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46634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Adapts tone via sampling parameters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89320" y="182880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1F2E52"/>
          </a:solidFill>
          <a:ln w="15875">
            <a:solidFill>
              <a:srgbClr val="BA75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2103120"/>
            <a:ext cx="457200" cy="457200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903720" y="2148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28346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Can be confidently wrong (hallucination)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09360" y="37490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Optimizes for “plausible next token,” not “verified fact”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09360" y="46634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built-in fact-check step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trainers: this is why prompt design, evaluation, and human verification workflows matter as much as the model itself.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LLM answers your question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end, in one 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388582" cy="9144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13885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937222" y="1828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65822" y="1554480"/>
            <a:ext cx="1388582" cy="914400"/>
          </a:xfrm>
          <a:prstGeom prst="roundRect">
            <a:avLst>
              <a:gd name="adj" fmla="val 8000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65822" y="1554480"/>
            <a:ext cx="13885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554403" y="1828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83003" y="1554480"/>
            <a:ext cx="1388582" cy="9144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83003" y="1554480"/>
            <a:ext cx="13885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171585" y="1828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00185" y="1554480"/>
            <a:ext cx="1388582" cy="914400"/>
          </a:xfrm>
          <a:prstGeom prst="roundRect">
            <a:avLst>
              <a:gd name="adj" fmla="val 8000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00185" y="1554480"/>
            <a:ext cx="13885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88767" y="1828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17367" y="1554480"/>
            <a:ext cx="1388582" cy="9144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17367" y="1554480"/>
            <a:ext cx="13885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05949" y="1828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34549" y="1554480"/>
            <a:ext cx="1388582" cy="914400"/>
          </a:xfrm>
          <a:prstGeom prst="roundRect">
            <a:avLst>
              <a:gd name="adj" fmla="val 8000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34549" y="1554480"/>
            <a:ext cx="13885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023130" y="1828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251730" y="1554480"/>
            <a:ext cx="1388582" cy="9144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51730" y="1554480"/>
            <a:ext cx="13885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283464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language model doesn't retrieve an answer — it predicts one token at a time, each prediction shaped by everything that came before it, until a learned stop signal ends the loop.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welcome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4400" y="4800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TechTrainerPro  |  Krosum Labs  —  fulfilling your yearning for learning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LLM answers your question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2026-08-21T01:12:44Z</dcterms:created>
  <dcterms:modified xsi:type="dcterms:W3CDTF">2026-08-21T01:12:44Z</dcterms:modified>
</cp:coreProperties>
</file>